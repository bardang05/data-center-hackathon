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5"/>
  </p:notesMasterIdLst>
  <p:handoutMasterIdLst>
    <p:handoutMasterId r:id="rId26"/>
  </p:handoutMasterIdLst>
  <p:sldIdLst>
    <p:sldId id="316" r:id="rId5"/>
    <p:sldId id="34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8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34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03" autoAdjust="0"/>
    <p:restoredTop sz="84967" autoAdjust="0"/>
  </p:normalViewPr>
  <p:slideViewPr>
    <p:cSldViewPr snapToGrid="0">
      <p:cViewPr varScale="1">
        <p:scale>
          <a:sx n="96" d="100"/>
          <a:sy n="96" d="100"/>
        </p:scale>
        <p:origin x="184" y="100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9/21/26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9/21/26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CENTRES: BEHIND THE HEADLINES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8370" b="8370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70170" y="3175279"/>
            <a:ext cx="4764445" cy="3131438"/>
          </a:xfrm>
        </p:spPr>
        <p:txBody>
          <a:bodyPr>
            <a:normAutofit/>
          </a:bodyPr>
          <a:lstStyle/>
          <a:p>
            <a:r>
              <a:rPr lang="en-US" dirty="0"/>
              <a:t>An Induction Data Hack</a:t>
            </a:r>
          </a:p>
          <a:p>
            <a:r>
              <a:rPr lang="en-US" dirty="0"/>
              <a:t>MAKE DATA PLAYABLE.</a:t>
            </a:r>
          </a:p>
          <a:p>
            <a:r>
              <a:rPr lang="en-US" dirty="0"/>
              <a:t>Explore. Question. Build. Play.</a:t>
            </a:r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lang="en-GB" dirty="0"/>
              <a:t>Welcome!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Welcome to our Induction Hackathon!</a:t>
            </a:r>
          </a:p>
          <a:p>
            <a:r>
              <a:rPr lang="en-US" dirty="0"/>
              <a:t>This hack is open to students across Levels 5, 6 and 7</a:t>
            </a:r>
          </a:p>
          <a:p>
            <a:r>
              <a:rPr lang="en-US" dirty="0"/>
              <a:t>Participation is optional — but highly encouraged</a:t>
            </a:r>
          </a:p>
          <a:p>
            <a:r>
              <a:rPr lang="en-US" dirty="0"/>
              <a:t>Work with people you know — or meet someone new</a:t>
            </a:r>
          </a:p>
          <a:p>
            <a:r>
              <a:rPr lang="en-US" dirty="0"/>
              <a:t>Try something you haven't done before</a:t>
            </a:r>
          </a:p>
          <a:p>
            <a:r>
              <a:rPr lang="en-US" dirty="0"/>
              <a:t>Most importantly: have some fun building something.</a:t>
            </a:r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6081" y="932928"/>
            <a:ext cx="10607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You Used a Data Centre to Get Here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5866" y="2345973"/>
            <a:ext cx="8119334" cy="334707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Streaming music.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Searching Google.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Watching TikTok.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Using Teams.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Playing an online game.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Using ChatGPT.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All that computing happens somewhere.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And increasingly, the infrastructure behind our digital lives is becoming part of a much bigger public debate.</a:t>
            </a:r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F17F476E-711D-CB6A-76D6-22447F93B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14169" y="1538844"/>
            <a:ext cx="2832354" cy="283235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2994" y="1328569"/>
            <a:ext cx="503375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AI Isn't Floating in a Cloud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2141" y="2272552"/>
            <a:ext cx="7984864" cy="310084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AI, cloud computing, streaming and other digital services require physical infrastructure.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Servers. Buildings. Electricity. Cooling. Networks. Water. People.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As our demand for computing increases, so does the infrastructure required to provide it.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Whether you think that's exciting, worrying, useful, wasteful — or a mixture of all four — it's worth exploring.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0985" y="1145381"/>
            <a:ext cx="689834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Everyone Seems to Have an Opinion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4114" y="2456230"/>
            <a:ext cx="8092440" cy="303159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EE2A7B"/>
                </a:solidFill>
                <a:latin typeface="Aptos"/>
              </a:defRPr>
            </a:pPr>
            <a:r>
              <a:rPr dirty="0"/>
              <a:t>ENERGY!   WATER!   AI!   JOBS!</a:t>
            </a:r>
          </a:p>
          <a:p>
            <a:pPr>
              <a:spcAft>
                <a:spcPts val="900"/>
              </a:spcAft>
              <a:defRPr sz="2700" b="1">
                <a:solidFill>
                  <a:srgbClr val="EE2A7B"/>
                </a:solidFill>
                <a:latin typeface="Aptos"/>
              </a:defRPr>
            </a:pPr>
            <a:r>
              <a:rPr dirty="0"/>
              <a:t>CARBON!   INVESTMENT!   LOCAL COMMUNITIES!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Data </a:t>
            </a:r>
            <a:r>
              <a:rPr dirty="0" err="1"/>
              <a:t>centres</a:t>
            </a:r>
            <a:r>
              <a:rPr dirty="0"/>
              <a:t> are rarely far from the headlines.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The media presents competing narratives around economic benefits, technological development, energy demand, and environmental and community concerns.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But what do people actually think?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1153" y="1213247"/>
            <a:ext cx="30524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We Have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1224" y="2297683"/>
            <a:ext cx="7971416" cy="334707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Colleagues at Maynooth University surveyed people in Ireland about data </a:t>
            </a:r>
            <a:r>
              <a:rPr dirty="0" err="1"/>
              <a:t>centres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The survey explores: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people know about data </a:t>
            </a:r>
            <a:r>
              <a:rPr dirty="0" err="1"/>
              <a:t>centres</a:t>
            </a:r>
            <a:endParaRPr dirty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where they get their information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they believe about their impacts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attitudes towards environmental, social and economic issues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whether they think they know enough to form an opinion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Now we're giving the data to you.</a:t>
            </a:r>
          </a:p>
        </p:txBody>
      </p:sp>
      <p:pic>
        <p:nvPicPr>
          <p:cNvPr id="5" name="Picture 4" descr="Maynooth University">
            <a:extLst>
              <a:ext uri="{FF2B5EF4-FFF2-40B4-BE49-F238E27FC236}">
                <a16:creationId xmlns:a16="http://schemas.microsoft.com/office/drawing/2014/main" id="{AEBCCD9A-79BC-D1D1-1B82-4E077380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397" y="1044773"/>
            <a:ext cx="2120900" cy="952500"/>
          </a:xfrm>
          <a:prstGeom prst="rect">
            <a:avLst/>
          </a:prstGeom>
        </p:spPr>
      </p:pic>
      <p:pic>
        <p:nvPicPr>
          <p:cNvPr id="7" name="Picture 6" descr="Bournemouth University Research (@buresearchevents) • Facebook">
            <a:extLst>
              <a:ext uri="{FF2B5EF4-FFF2-40B4-BE49-F238E27FC236}">
                <a16:creationId xmlns:a16="http://schemas.microsoft.com/office/drawing/2014/main" id="{D92FE50E-5718-BC84-456A-16870CCBC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8599" y="2130249"/>
            <a:ext cx="1402861" cy="1402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4972" y="1046064"/>
            <a:ext cx="364415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5584" y="2821370"/>
            <a:ext cx="7180729" cy="310854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EE2A7B"/>
                </a:solidFill>
                <a:latin typeface="Aptos"/>
              </a:defRPr>
            </a:pPr>
            <a:r>
              <a:rPr dirty="0"/>
              <a:t>MAKE IT PLAYABLE.</a:t>
            </a:r>
          </a:p>
          <a:p>
            <a:pPr>
              <a:spcAft>
                <a:spcPts val="900"/>
              </a:spcAft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Use the supplied data to create a working software artefact that lets people:</a:t>
            </a:r>
          </a:p>
          <a:p>
            <a:pPr>
              <a:spcAft>
                <a:spcPts val="900"/>
              </a:spcAft>
              <a:defRPr sz="2700" b="1">
                <a:solidFill>
                  <a:srgbClr val="EE2A7B"/>
                </a:solidFill>
                <a:latin typeface="Aptos"/>
              </a:defRPr>
            </a:pPr>
            <a:r>
              <a:rPr dirty="0"/>
              <a:t>EXPLORE   •   PLAY   •   QUESTION</a:t>
            </a:r>
          </a:p>
          <a:p>
            <a:pPr>
              <a:spcAft>
                <a:spcPts val="900"/>
              </a:spcAft>
              <a:defRPr sz="2700" b="1">
                <a:solidFill>
                  <a:srgbClr val="EE2A7B"/>
                </a:solidFill>
                <a:latin typeface="Aptos"/>
              </a:defRPr>
            </a:pPr>
            <a:r>
              <a:rPr dirty="0"/>
              <a:t>EXPERIMENT   •   DISCOVER   •   CONTRIBUTE</a:t>
            </a:r>
          </a:p>
          <a:p>
            <a:pPr>
              <a:spcAft>
                <a:spcPts val="900"/>
              </a:spcAft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Help someone engage with the data-</a:t>
            </a:r>
            <a:r>
              <a:rPr dirty="0" err="1"/>
              <a:t>centre</a:t>
            </a:r>
            <a:r>
              <a:rPr dirty="0"/>
              <a:t> debate in an interesting way.</a:t>
            </a:r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7CDD9FAE-993B-6833-5A11-9CAD7E6F2E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6118" y="669917"/>
            <a:ext cx="4049486" cy="2277836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0920" y="1071310"/>
            <a:ext cx="463923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What Could You Make?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6225" y="2545798"/>
            <a:ext cx="6629401" cy="307007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 game — balance energy, water, cost and public opinion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Headline or Hype? — compare headlines with evidence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An interactive world map — compare different countries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 perception quiz — beliefs versus data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 crowdsourcing application — What do YOU think?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 scenario simulator — What happens as AI demand grows?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An interactive story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Something we haven't thought of!</a:t>
            </a:r>
          </a:p>
        </p:txBody>
      </p:sp>
      <p:pic>
        <p:nvPicPr>
          <p:cNvPr id="5" name="Picture 4" descr="The best strategy games of all time, from an RTS veteran | Club386">
            <a:extLst>
              <a:ext uri="{FF2B5EF4-FFF2-40B4-BE49-F238E27FC236}">
                <a16:creationId xmlns:a16="http://schemas.microsoft.com/office/drawing/2014/main" id="{EC255373-33F6-B276-AA0F-9202B1735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055" y="502920"/>
            <a:ext cx="3325026" cy="1870327"/>
          </a:xfrm>
          <a:prstGeom prst="rect">
            <a:avLst/>
          </a:prstGeom>
        </p:spPr>
      </p:pic>
      <p:pic>
        <p:nvPicPr>
          <p:cNvPr id="7" name="Picture 6" descr="Slow Down With These Serene City-Building Games | WIRED">
            <a:extLst>
              <a:ext uri="{FF2B5EF4-FFF2-40B4-BE49-F238E27FC236}">
                <a16:creationId xmlns:a16="http://schemas.microsoft.com/office/drawing/2014/main" id="{267667B9-ED47-BE52-B2F2-4B873A8BF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137" y="1237812"/>
            <a:ext cx="2833275" cy="2123971"/>
          </a:xfrm>
          <a:prstGeom prst="rect">
            <a:avLst/>
          </a:prstGeom>
        </p:spPr>
      </p:pic>
      <p:pic>
        <p:nvPicPr>
          <p:cNvPr id="8" name="Picture 7" descr="Create Geographic Heat Maps with Maptitude Mapping Software">
            <a:extLst>
              <a:ext uri="{FF2B5EF4-FFF2-40B4-BE49-F238E27FC236}">
                <a16:creationId xmlns:a16="http://schemas.microsoft.com/office/drawing/2014/main" id="{792026E1-4D76-D364-AE90-51459A6C9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055" y="2492078"/>
            <a:ext cx="2220686" cy="1610421"/>
          </a:xfrm>
          <a:prstGeom prst="rect">
            <a:avLst/>
          </a:prstGeom>
        </p:spPr>
      </p:pic>
      <p:pic>
        <p:nvPicPr>
          <p:cNvPr id="10" name="Picture 9" descr="AVL Scenario Simulator™ | AVL">
            <a:extLst>
              <a:ext uri="{FF2B5EF4-FFF2-40B4-BE49-F238E27FC236}">
                <a16:creationId xmlns:a16="http://schemas.microsoft.com/office/drawing/2014/main" id="{06EFA95C-F7EE-AD88-5922-080E5D906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514" y="4984933"/>
            <a:ext cx="3220227" cy="1810483"/>
          </a:xfrm>
          <a:prstGeom prst="rect">
            <a:avLst/>
          </a:prstGeom>
        </p:spPr>
      </p:pic>
      <p:pic>
        <p:nvPicPr>
          <p:cNvPr id="11" name="Picture 10" descr="EMPLOYEE 427 | The Stanley Parable Episode 1">
            <a:extLst>
              <a:ext uri="{FF2B5EF4-FFF2-40B4-BE49-F238E27FC236}">
                <a16:creationId xmlns:a16="http://schemas.microsoft.com/office/drawing/2014/main" id="{F489C8DD-450E-3BB1-4F1A-7071027A7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1510" y="4096675"/>
            <a:ext cx="3048000" cy="2273300"/>
          </a:xfrm>
          <a:prstGeom prst="rect">
            <a:avLst/>
          </a:prstGeom>
        </p:spPr>
      </p:pic>
      <p:pic>
        <p:nvPicPr>
          <p:cNvPr id="9" name="Picture 8" descr="Heat map technique with data smoothing | PeryTUS IT Solutions">
            <a:extLst>
              <a:ext uri="{FF2B5EF4-FFF2-40B4-BE49-F238E27FC236}">
                <a16:creationId xmlns:a16="http://schemas.microsoft.com/office/drawing/2014/main" id="{7DACA0C3-6E02-F7ED-D9E9-A0C918890F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2940" y="3559468"/>
            <a:ext cx="2817141" cy="1244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0074" y="643090"/>
            <a:ext cx="429140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A Possible Game...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378" y="1385639"/>
            <a:ext cx="6650915" cy="510909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EE2A7B"/>
                </a:solidFill>
                <a:latin typeface="Aptos"/>
              </a:defRPr>
            </a:pPr>
            <a:r>
              <a:rPr dirty="0"/>
              <a:t>BUILD A DATA CENTRE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You need more computing capacity.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But you also need to balance:</a:t>
            </a:r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Electricity   </a:t>
            </a:r>
            <a:endParaRPr lang="en-GB" dirty="0"/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Water   </a:t>
            </a:r>
            <a:endParaRPr lang="en-GB" dirty="0"/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Carbon   </a:t>
            </a:r>
            <a:endParaRPr lang="en-GB" dirty="0"/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Cost</a:t>
            </a:r>
            <a:endParaRPr lang="en-GB" dirty="0"/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Jobs   </a:t>
            </a:r>
            <a:endParaRPr lang="en-GB" dirty="0"/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Communities   </a:t>
            </a:r>
            <a:endParaRPr lang="en-GB" dirty="0"/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Public acceptance   </a:t>
            </a:r>
            <a:endParaRPr lang="en-GB" dirty="0"/>
          </a:p>
          <a:p>
            <a:pPr marL="742950" lvl="1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AI demand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choices would YOU make?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Could real data drive the game?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586A2-8D8C-93D3-AAEB-0CF787872A5B}"/>
              </a:ext>
            </a:extLst>
          </p:cNvPr>
          <p:cNvSpPr txBox="1"/>
          <p:nvPr/>
        </p:nvSpPr>
        <p:spPr>
          <a:xfrm>
            <a:off x="5851287" y="1172119"/>
            <a:ext cx="46930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Or Ask the Player...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B222F-077D-5AE9-1D26-69C6067182C8}"/>
              </a:ext>
            </a:extLst>
          </p:cNvPr>
          <p:cNvSpPr txBox="1"/>
          <p:nvPr/>
        </p:nvSpPr>
        <p:spPr>
          <a:xfrm>
            <a:off x="5851287" y="2189705"/>
            <a:ext cx="5830173" cy="350095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EE2A7B"/>
                </a:solidFill>
                <a:latin typeface="Aptos"/>
              </a:defRPr>
            </a:pPr>
            <a:r>
              <a:rPr dirty="0"/>
              <a:t>HOW MUCH ELECTRICITY DO YOU THINK DATA CENTRES USE?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5% — 10% — 20% — 30% — 40%?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Make your guess.</a:t>
            </a:r>
          </a:p>
          <a:p>
            <a:pPr>
              <a:spcAft>
                <a:spcPts val="900"/>
              </a:spcAft>
              <a:defRPr sz="1800">
                <a:solidFill>
                  <a:srgbClr val="5F5F69"/>
                </a:solidFill>
                <a:latin typeface="Aptos"/>
              </a:defRPr>
            </a:pPr>
            <a:r>
              <a:rPr dirty="0"/>
              <a:t>→ Reveal the data.</a:t>
            </a:r>
          </a:p>
          <a:p>
            <a:pPr>
              <a:spcAft>
                <a:spcPts val="900"/>
              </a:spcAft>
              <a:defRPr sz="1800">
                <a:solidFill>
                  <a:srgbClr val="5F5F69"/>
                </a:solidFill>
                <a:latin typeface="Aptos"/>
              </a:defRPr>
            </a:pPr>
            <a:r>
              <a:rPr dirty="0"/>
              <a:t>→ See how other people answered.</a:t>
            </a:r>
          </a:p>
          <a:p>
            <a:pPr>
              <a:spcAft>
                <a:spcPts val="900"/>
              </a:spcAft>
              <a:defRPr sz="1800">
                <a:solidFill>
                  <a:srgbClr val="5F5F69"/>
                </a:solidFill>
                <a:latin typeface="Aptos"/>
              </a:defRPr>
            </a:pPr>
            <a:r>
              <a:rPr dirty="0"/>
              <a:t>→ Compare yourself with the Maynooth survey.</a:t>
            </a:r>
          </a:p>
          <a:p>
            <a:pPr>
              <a:spcAft>
                <a:spcPts val="900"/>
              </a:spcAft>
              <a:defRPr sz="1800">
                <a:solidFill>
                  <a:srgbClr val="5F5F69"/>
                </a:solidFill>
                <a:latin typeface="Aptos"/>
              </a:defRPr>
            </a:pPr>
            <a:r>
              <a:rPr dirty="0"/>
              <a:t>→ Ask another question.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Data exploration doesn't have to look like a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132" y="811228"/>
            <a:ext cx="660250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The Survey Is Your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409" y="1807265"/>
            <a:ext cx="4417263" cy="430117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You can use other data too: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• electricity consumption and demand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• renewable energy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• water and carbon emissions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• economic impacts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• geography and population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• international comparisons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• policy, regulation and media coverage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Mix things together.</a:t>
            </a:r>
          </a:p>
          <a:p>
            <a:pPr>
              <a:spcAft>
                <a:spcPts val="900"/>
              </a:spcAft>
              <a:defRPr sz="16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What happens when one dataset tells a different story from another?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38C90-01B2-8659-4A94-61F90B5E58A8}"/>
              </a:ext>
            </a:extLst>
          </p:cNvPr>
          <p:cNvSpPr txBox="1"/>
          <p:nvPr/>
        </p:nvSpPr>
        <p:spPr>
          <a:xfrm>
            <a:off x="6096000" y="3703938"/>
            <a:ext cx="5889851" cy="2908489"/>
          </a:xfrm>
          <a:custGeom>
            <a:avLst/>
            <a:gdLst>
              <a:gd name="csX0" fmla="*/ 0 w 5889851"/>
              <a:gd name="csY0" fmla="*/ 0 h 2908489"/>
              <a:gd name="csX1" fmla="*/ 5889851 w 5889851"/>
              <a:gd name="csY1" fmla="*/ 0 h 2908489"/>
              <a:gd name="csX2" fmla="*/ 5889851 w 5889851"/>
              <a:gd name="csY2" fmla="*/ 2908489 h 2908489"/>
              <a:gd name="csX3" fmla="*/ 0 w 5889851"/>
              <a:gd name="csY3" fmla="*/ 2908489 h 2908489"/>
              <a:gd name="csX4" fmla="*/ 0 w 5889851"/>
              <a:gd name="csY4" fmla="*/ 0 h 29084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89851" h="2908489" extrusionOk="0">
                <a:moveTo>
                  <a:pt x="0" y="0"/>
                </a:moveTo>
                <a:cubicBezTo>
                  <a:pt x="821928" y="118645"/>
                  <a:pt x="4638855" y="116012"/>
                  <a:pt x="5889851" y="0"/>
                </a:cubicBezTo>
                <a:cubicBezTo>
                  <a:pt x="5756969" y="659349"/>
                  <a:pt x="5974802" y="1813741"/>
                  <a:pt x="5889851" y="2908489"/>
                </a:cubicBezTo>
                <a:cubicBezTo>
                  <a:pt x="4303494" y="3043089"/>
                  <a:pt x="2896062" y="2751293"/>
                  <a:pt x="0" y="2908489"/>
                </a:cubicBezTo>
                <a:cubicBezTo>
                  <a:pt x="-20187" y="2566044"/>
                  <a:pt x="-152480" y="925634"/>
                  <a:pt x="0" y="0"/>
                </a:cubicBezTo>
                <a:close/>
              </a:path>
            </a:pathLst>
          </a:custGeom>
          <a:noFill/>
          <a:ln w="41275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0" tIns="0" rIns="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Different countries and regions have taken different approaches.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Some have restricted development, changed planning requirements, introduced energy requirements, encouraged renewable generation, addressed water consumption, looked at heat reuse, or tried to attract further investment.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sz="1900" dirty="0"/>
              <a:t>Could your artefact let users explore different approaches?</a:t>
            </a:r>
          </a:p>
        </p:txBody>
      </p:sp>
      <p:pic>
        <p:nvPicPr>
          <p:cNvPr id="7" name="Picture 6" descr="Data | Memory Alpha | Fandom">
            <a:extLst>
              <a:ext uri="{FF2B5EF4-FFF2-40B4-BE49-F238E27FC236}">
                <a16:creationId xmlns:a16="http://schemas.microsoft.com/office/drawing/2014/main" id="{86B6914C-0A7C-6FA7-A3F6-BD2CDF901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315" y="334065"/>
            <a:ext cx="273050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9180" y="950584"/>
            <a:ext cx="44509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Behind the Headlines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4561" y="2322661"/>
            <a:ext cx="6680499" cy="26776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You could even make the news itself part of your artefact.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Take a headline. Ask: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is it claiming?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evidence does it use?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does the survey say?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does other data say?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is missing?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AE7B6-35FD-B3F2-A455-20B976E125CE}"/>
              </a:ext>
            </a:extLst>
          </p:cNvPr>
          <p:cNvSpPr txBox="1"/>
          <p:nvPr/>
        </p:nvSpPr>
        <p:spPr>
          <a:xfrm>
            <a:off x="1369180" y="5291863"/>
            <a:ext cx="597049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Challenge Your Assumptions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4093AE-06B1-8C1C-A142-6192B1D7C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656" y="233201"/>
            <a:ext cx="3920127" cy="1434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3F4479-1735-A1EB-65B6-19D4AC151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225" y="1938735"/>
            <a:ext cx="4161183" cy="1490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A5A81C-B0AA-820C-B22A-C4D11A21C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674" y="3561543"/>
            <a:ext cx="3913578" cy="15522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735156-C519-FCAA-30E7-39B3157EE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630" y="5032287"/>
            <a:ext cx="2668830" cy="1592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6646" y="1565238"/>
            <a:ext cx="69897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One Important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7294" y="2702858"/>
            <a:ext cx="8065546" cy="227754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EE2A7B"/>
                </a:solidFill>
                <a:latin typeface="Aptos"/>
              </a:defRPr>
            </a:pPr>
            <a:r>
              <a:rPr dirty="0"/>
              <a:t>DATA ≠ OPINION ≠ ASSUMPTION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Someone believing something is interesting data in itself.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It doesn't necessarily make the belief true.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Likewise, one statistic doesn't necessarily tell the whole story.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19191E"/>
                </a:solidFill>
                <a:latin typeface="Aptos"/>
              </a:defRPr>
            </a:pPr>
            <a:r>
              <a:rPr dirty="0"/>
              <a:t>Can your software help people explore that difference?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2859" y="1385047"/>
            <a:ext cx="250115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Important!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8964" y="2164976"/>
            <a:ext cx="7473875" cy="353943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Your </a:t>
            </a:r>
            <a:r>
              <a:rPr lang="en-GB" dirty="0"/>
              <a:t>hack</a:t>
            </a:r>
            <a:r>
              <a:rPr dirty="0"/>
              <a:t> must: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✓ be a working software artefact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✓ make meaningful use of the supplied survey data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✓ contain a playful or genuinely interactive element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✓ give the user something meaningful to DO</a:t>
            </a:r>
            <a:endParaRPr lang="en-GB" dirty="0"/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 collection of static charts isn't enough.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 dashboard isn't automatically interactive just because it has filters.</a:t>
            </a:r>
          </a:p>
          <a:p>
            <a:pPr>
              <a:spcAft>
                <a:spcPts val="900"/>
              </a:spcAft>
              <a:defRPr sz="2300" b="1">
                <a:solidFill>
                  <a:srgbClr val="EE2A7B"/>
                </a:solidFill>
                <a:latin typeface="Aptos"/>
              </a:defRPr>
            </a:pPr>
            <a:r>
              <a:rPr dirty="0"/>
              <a:t>CODE. PLAY. EXPLORE.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44153" y="1242131"/>
            <a:ext cx="381896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Tech? Up to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01352" y="1976718"/>
            <a:ext cx="7191487" cy="346248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Use whatever helps you turn your idea into something real.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• Python + </a:t>
            </a:r>
            <a:r>
              <a:rPr dirty="0" err="1"/>
              <a:t>Streamlit</a:t>
            </a:r>
            <a:r>
              <a:rPr dirty="0"/>
              <a:t> / </a:t>
            </a:r>
            <a:r>
              <a:rPr dirty="0" err="1"/>
              <a:t>Plotly</a:t>
            </a: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• JavaScript / D3.js / p5.js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• React / </a:t>
            </a:r>
            <a:r>
              <a:rPr dirty="0" err="1"/>
              <a:t>Next.js</a:t>
            </a: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Three.js</a:t>
            </a: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• Unity / Godot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• Maps, AR / VR, mobile, APIs...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Generative AI tools are allowed and encouraged.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Use them to help you learn, experiment and build.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2551" y="1191703"/>
            <a:ext cx="802520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234440" cy="82296"/>
          </a:xfrm>
          <a:prstGeom prst="rect">
            <a:avLst/>
          </a:prstGeom>
          <a:solidFill>
            <a:srgbClr val="FFE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79577" y="2115032"/>
            <a:ext cx="6572922" cy="346248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Teams of up to 5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Mix different skills.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Mix different study levels.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Programmers are useful.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Designers are useful.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Data people are useful.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People with strange ideas are very useful.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You don't all need to know how to do the same thing.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Collaboration &gt; Competition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84831" y="1172906"/>
            <a:ext cx="920800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Show Us What You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0634" y="1788459"/>
            <a:ext cx="6882205" cy="353943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EE2A7B"/>
                </a:solidFill>
                <a:latin typeface="Aptos"/>
              </a:defRPr>
            </a:pPr>
            <a:r>
              <a:rPr dirty="0"/>
              <a:t>GIVE US A SHORT LIVE </a:t>
            </a:r>
            <a:r>
              <a:rPr lang="en-GB" dirty="0"/>
              <a:t>5 MINUTE </a:t>
            </a:r>
            <a:r>
              <a:rPr dirty="0"/>
              <a:t>DEMO</a:t>
            </a:r>
            <a:r>
              <a:rPr lang="en-GB" dirty="0"/>
              <a:t> </a:t>
            </a:r>
            <a:endParaRPr dirty="0"/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No lengthy presentation.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Show us: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you made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the user can do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data you used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you discovered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what worked — and what didn't!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We want to see the thing — not slides about the thing.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2858" y="1283279"/>
            <a:ext cx="830759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What Are We Looking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8588" y="2151528"/>
            <a:ext cx="7003228" cy="295465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Not the biggest application. Not the most code. Not the most complicated AI.</a:t>
            </a:r>
            <a:endParaRPr lang="en-GB" dirty="0"/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IDEA — Is there an interesting concept?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DATA — Is the data used meaningfully?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INTERACTION — Is it interesting to use?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INSIGHT — Does it make us think or discover something?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BUILD — Did you actually make it work?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TEAMWORK — Did you build it together?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4223" y="1200983"/>
            <a:ext cx="822691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The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29530" y="2510002"/>
            <a:ext cx="6586369" cy="314701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1. Build working software.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2. Use the supplied survey data.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3. Make it interactive and playful.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4. Teams of no more than 5.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5. AI tools are allowed.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6. Don't misrepresent the data.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And the most important rule...</a:t>
            </a:r>
          </a:p>
          <a:p>
            <a:pPr>
              <a:spcAft>
                <a:spcPts val="900"/>
              </a:spcAft>
              <a:defRPr sz="2300" b="1">
                <a:solidFill>
                  <a:srgbClr val="EE2A7B"/>
                </a:solidFill>
                <a:latin typeface="Aptos"/>
              </a:defRPr>
            </a:pPr>
            <a:r>
              <a:rPr dirty="0"/>
              <a:t>HAVE FUN.</a:t>
            </a:r>
          </a:p>
        </p:txBody>
      </p:sp>
      <p:pic>
        <p:nvPicPr>
          <p:cNvPr id="5" name="Picture 4" descr="Rules GIFs | Tenor">
            <a:extLst>
              <a:ext uri="{FF2B5EF4-FFF2-40B4-BE49-F238E27FC236}">
                <a16:creationId xmlns:a16="http://schemas.microsoft.com/office/drawing/2014/main" id="{4997465C-E952-9494-EDD4-DB4C9E651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237" y="2510002"/>
            <a:ext cx="5677963" cy="21824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6416" y="1200983"/>
            <a:ext cx="640348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dirty="0"/>
              <a:t>Same Data. Different Ideas.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4289" y="2549485"/>
            <a:ext cx="7285616" cy="283154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One dataset.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Lots of possible questions.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Even more possible artefacts.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There isn't a solution we're waiting for you to discover.</a:t>
            </a:r>
          </a:p>
          <a:p>
            <a:pPr>
              <a:spcAft>
                <a:spcPts val="900"/>
              </a:spcAft>
              <a:defRPr sz="2300" b="1">
                <a:solidFill>
                  <a:srgbClr val="EE2A7B"/>
                </a:solidFill>
                <a:latin typeface="Aptos"/>
              </a:defRPr>
            </a:pPr>
            <a:r>
              <a:rPr dirty="0"/>
              <a:t>WE DON'T KNOW WHAT YOU'RE GOING TO BUILD.</a:t>
            </a:r>
          </a:p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dirty="0"/>
              <a:t>That's the point.</a:t>
            </a:r>
          </a:p>
          <a:p>
            <a:pPr>
              <a:spcAft>
                <a:spcPts val="900"/>
              </a:spcAft>
              <a:defRPr sz="2300" b="1">
                <a:solidFill>
                  <a:srgbClr val="EE2A7B"/>
                </a:solidFill>
                <a:latin typeface="Aptos"/>
              </a:defRPr>
            </a:pPr>
            <a:r>
              <a:rPr dirty="0"/>
              <a:t>HAPPY HACKING 🚀</a:t>
            </a:r>
          </a:p>
        </p:txBody>
      </p:sp>
      <p:pic>
        <p:nvPicPr>
          <p:cNvPr id="5" name="Picture 4" descr="a cat is sitting in front of an apple laptop computer">
            <a:extLst>
              <a:ext uri="{FF2B5EF4-FFF2-40B4-BE49-F238E27FC236}">
                <a16:creationId xmlns:a16="http://schemas.microsoft.com/office/drawing/2014/main" id="{C132FF30-9E33-9728-2506-01821DEEE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960" y="2347269"/>
            <a:ext cx="3033760" cy="3033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9AAF-A569-07CC-D2DE-6591F0F49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919570-6F3F-D242-6A87-2F23F2CB687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E2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5C3B8-8345-E6B0-9895-CA7FDF656CE1}"/>
              </a:ext>
            </a:extLst>
          </p:cNvPr>
          <p:cNvSpPr txBox="1"/>
          <p:nvPr/>
        </p:nvSpPr>
        <p:spPr>
          <a:xfrm>
            <a:off x="11475720" y="228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5F5F69"/>
                </a:solidFill>
              </a:defRPr>
            </a:pPr>
            <a:r>
              <a:t>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A4724-28DA-ECC6-4060-D805E9567DFB}"/>
              </a:ext>
            </a:extLst>
          </p:cNvPr>
          <p:cNvSpPr txBox="1"/>
          <p:nvPr/>
        </p:nvSpPr>
        <p:spPr>
          <a:xfrm>
            <a:off x="2256416" y="1200983"/>
            <a:ext cx="640348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9191E"/>
                </a:solidFill>
                <a:latin typeface="Aptos Display"/>
              </a:defRPr>
            </a:pPr>
            <a:r>
              <a:rPr lang="en-GB" dirty="0"/>
              <a:t>The Data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C777FE-4337-1048-2A12-368FBEBD18ED}"/>
              </a:ext>
            </a:extLst>
          </p:cNvPr>
          <p:cNvSpPr txBox="1"/>
          <p:nvPr/>
        </p:nvSpPr>
        <p:spPr>
          <a:xfrm>
            <a:off x="1279812" y="1816536"/>
            <a:ext cx="6046928" cy="115416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E"/>
                </a:solidFill>
                <a:latin typeface="Aptos"/>
              </a:defRPr>
            </a:pPr>
            <a:r>
              <a:rPr lang="en-GB" dirty="0"/>
              <a:t>https://</a:t>
            </a:r>
            <a:r>
              <a:rPr lang="en-GB" dirty="0" err="1"/>
              <a:t>livebournemouthac-my.sharepoint.com</a:t>
            </a:r>
            <a:r>
              <a:rPr lang="en-GB" dirty="0"/>
              <a:t>/:f:/g/personal/</a:t>
            </a:r>
            <a:r>
              <a:rPr lang="en-GB" dirty="0" err="1"/>
              <a:t>gliebchen_bournemouth_ac_uk</a:t>
            </a:r>
            <a:r>
              <a:rPr lang="en-GB" dirty="0"/>
              <a:t>/IgCU0SZVfVHnT6uWDXAu7z7bAR-hVwKnSnQQEU0NFLcPpBc?e=b3fWqc</a:t>
            </a:r>
            <a:endParaRPr dirty="0"/>
          </a:p>
        </p:txBody>
      </p:sp>
      <p:pic>
        <p:nvPicPr>
          <p:cNvPr id="5" name="Picture 4" descr="a cat is sitting in front of an apple laptop computer">
            <a:extLst>
              <a:ext uri="{FF2B5EF4-FFF2-40B4-BE49-F238E27FC236}">
                <a16:creationId xmlns:a16="http://schemas.microsoft.com/office/drawing/2014/main" id="{BABCA566-7428-E07B-6B24-5FF60561A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960" y="2347269"/>
            <a:ext cx="3033760" cy="3033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7295FA-7CE9-48CC-AAAB-017E999A4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12" y="2970698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8884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16729F-0CF3-48D0-9AFD-AAAEB43092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544979-59F0-4F8D-AA35-90255837C7E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EDFB26C-8E2C-4C64-B21C-909AD1AA2D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1225</Words>
  <Application>Microsoft Macintosh PowerPoint</Application>
  <PresentationFormat>Widescreen</PresentationFormat>
  <Paragraphs>194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Univers</vt:lpstr>
      <vt:lpstr>GradientVTI</vt:lpstr>
      <vt:lpstr>DATA CENTRES: BEHIND THE HEADLINES</vt:lpstr>
      <vt:lpstr>Welcome!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Gernot Liebchen</cp:lastModifiedBy>
  <cp:revision>4</cp:revision>
  <dcterms:created xsi:type="dcterms:W3CDTF">2026-09-21T03:13:49Z</dcterms:created>
  <dcterms:modified xsi:type="dcterms:W3CDTF">2026-09-21T05:45:38Z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